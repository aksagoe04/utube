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9358" y="1230511"/>
            <a:ext cx="5485284" cy="10501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YouTube Prototype Project</a:t>
            </a:r>
            <a:r>
              <a:rPr lang="en-US" sz="33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
</a:t>
            </a:r>
            <a:r>
              <a:rPr lang="en-US" sz="33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Documentation &amp; Overview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219530" y="3023592"/>
            <a:ext cx="4704941" cy="2625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33333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Comprehensive Technical Analysis and Roadmap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194121" y="3714750"/>
            <a:ext cx="2755757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Presented by: Alexander Kwesi Sagoe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About the Presenter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209080"/>
            <a:ext cx="8286750" cy="5486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000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 am </a:t>
            </a:r>
            <a:r>
              <a:rPr lang="en-US" sz="1200" b="1" dirty="0">
                <a:solidFill>
                  <a:srgbClr val="0000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Alexander Kwesi Sagoe</a:t>
            </a:r>
            <a:r>
              <a:rPr lang="en-US" sz="1200" b="1" dirty="0">
                <a:solidFill>
                  <a:srgbClr val="0000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, a dedicated professional committed to technical excellence and </a:t>
            </a:r>
            <a:r>
              <a:rPr lang="en-US" sz="1200" b="1" dirty="0">
                <a:solidFill>
                  <a:srgbClr val="0000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innovation in information technology.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28625" y="2043447"/>
            <a:ext cx="8286750" cy="1510903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2329197"/>
            <a:ext cx="7715250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Current Role: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National Service Personnel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4375" y="2632807"/>
            <a:ext cx="7715250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Department: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College of Science IT Office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4375" y="2936416"/>
            <a:ext cx="7715250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Focus:</a:t>
            </a: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System administration, technical support, and prototype development.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Original YouTube Platform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137642"/>
            <a:ext cx="8286750" cy="2625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0000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"To give everyone a voice and show them the world."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28625" y="1843088"/>
            <a:ext cx="4000500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GLOBAL DISTRIBUTION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2180630"/>
            <a:ext cx="400050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Enabling users to upload and share video content with a worldwide audience instantly.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14875" y="1843088"/>
            <a:ext cx="4000500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CONTENT DISCOVERY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14875" y="2180630"/>
            <a:ext cx="400050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sophisticated ecosystem for viewing, rating, and discovering diverse media content.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8625" y="3034978"/>
            <a:ext cx="4000500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INTERACTION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8625" y="3372520"/>
            <a:ext cx="400050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Fostering community through comments, likes, and channel subscriptions.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14875" y="3034978"/>
            <a:ext cx="4000500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MEDIA MANAGEMENT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14875" y="3372520"/>
            <a:ext cx="400050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tools for creators to organize content into playlists and channels.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YouTube Home Interface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223367"/>
            <a:ext cx="4306258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92083" y="1137642"/>
            <a:ext cx="3523292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NAVIGATION SIDEBAR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192083" y="1371600"/>
            <a:ext cx="3523292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 access to Home, Shorts, Subscriptions, and personal Library.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5192083" y="1953090"/>
            <a:ext cx="3523292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SEARCH &amp; HEADER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192083" y="2187048"/>
            <a:ext cx="3523292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search bar with voice input and user account controls.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192083" y="2768538"/>
            <a:ext cx="3523292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CONTENT GRID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192083" y="3002496"/>
            <a:ext cx="3523292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recommendation engine displaying video thumbnails and metadata.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192083" y="3583986"/>
            <a:ext cx="3523292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CATEGORY FILTERS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192083" y="3817944"/>
            <a:ext cx="3523292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Top-level chips for rapid content filtering by genre or interest.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Timeline &amp; Milestones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137642"/>
            <a:ext cx="1657350" cy="419695"/>
          </a:xfrm>
          <a:prstGeom prst="rect">
            <a:avLst/>
          </a:prstGeom>
          <a:noFill/>
        </p:spPr>
        <p:txBody>
          <a:bodyPr wrap="square" lIns="0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DATE / PERIOD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085975" y="1137642"/>
            <a:ext cx="2071688" cy="419695"/>
          </a:xfrm>
          <a:prstGeom prst="rect">
            <a:avLst/>
          </a:prstGeom>
          <a:noFill/>
        </p:spPr>
        <p:txBody>
          <a:bodyPr wrap="square" lIns="0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MILESTONE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57663" y="1137642"/>
            <a:ext cx="4557713" cy="419695"/>
          </a:xfrm>
          <a:prstGeom prst="rect">
            <a:avLst/>
          </a:prstGeom>
          <a:noFill/>
        </p:spPr>
        <p:txBody>
          <a:bodyPr wrap="square" lIns="0" tIns="127508" rIns="0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DESCRIPTION &amp; DELIVERABLES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1557338"/>
            <a:ext cx="1657350" cy="442913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April 23,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085975" y="1557338"/>
            <a:ext cx="2071688" cy="442913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Project Commencement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57663" y="1557338"/>
            <a:ext cx="4557713" cy="442913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project assignment and requirement gathering.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8625" y="2000250"/>
            <a:ext cx="8286750" cy="439341"/>
          </a:xfrm>
          <a:prstGeom prst="rect">
            <a:avLst/>
          </a:prstGeom>
          <a:solidFill>
            <a:srgbClr val="F0F4FF"/>
          </a:solidFill>
        </p:spPr>
      </p:sp>
      <p:sp>
        <p:nvSpPr>
          <p:cNvPr id="11" name="Text 8"/>
          <p:cNvSpPr/>
          <p:nvPr/>
        </p:nvSpPr>
        <p:spPr>
          <a:xfrm>
            <a:off x="428625" y="2000250"/>
            <a:ext cx="1657350" cy="439341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April 29,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085975" y="2000250"/>
            <a:ext cx="2071688" cy="439341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Documentation Deadline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57663" y="2000250"/>
            <a:ext cx="4557713" cy="439341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Submission of comprehensive project documentation and schema design.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28625" y="2439591"/>
            <a:ext cx="1657350" cy="439341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May 1 - May 24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85975" y="2439591"/>
            <a:ext cx="2071688" cy="439341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Weekly Progress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157663" y="2439591"/>
            <a:ext cx="4557713" cy="439341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Weekly updates and progress reporting on prototype development.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8625" y="2878931"/>
            <a:ext cx="1657350" cy="439341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May 31,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85975" y="2878931"/>
            <a:ext cx="2071688" cy="439341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Final Completion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157663" y="2878931"/>
            <a:ext cx="4557713" cy="439341"/>
          </a:xfrm>
          <a:prstGeom prst="rect">
            <a:avLst/>
          </a:prstGeom>
          <a:noFill/>
        </p:spPr>
        <p:txBody>
          <a:bodyPr wrap="square" lIns="0" tIns="170053" rIns="0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project wrap-up and submission of the functional prototype.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28625" y="3607594"/>
            <a:ext cx="8286750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 Progress reports are required every week following the documentation submission to ensure timely completion by May 31st.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Prototype Introduction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137642"/>
            <a:ext cx="8286750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Developing a functional prototype to demonstrate core modern video platform features, including user accounts, video uploads, and content discovery.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28625" y="2132019"/>
            <a:ext cx="3929063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FUNCTIONAL PROTOTYPE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2469561"/>
            <a:ext cx="3929063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Demonstrating essential features of a modern video-sharing platform.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86313" y="2132019"/>
            <a:ext cx="3929063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FOUNDATION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86313" y="2469561"/>
            <a:ext cx="3929063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complexities of building scalable media-sharing applications.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8625" y="3466784"/>
            <a:ext cx="3929063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INTERACTION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8625" y="3804326"/>
            <a:ext cx="3929063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Fostering engagement through features like comments, likes, and subscriptions.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86313" y="3466784"/>
            <a:ext cx="3929063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SCALABLE DESIGN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86313" y="3804326"/>
            <a:ext cx="3929063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Establishing a robust architecture for future platform enhancements and growth.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Prototype App Purpose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137642"/>
            <a:ext cx="8286750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000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"Demonstrate core modern video platform features as a foundation for scalable media sharing."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8625" y="1810941"/>
            <a:ext cx="4000500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CREATOR EMPOWERMENT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2080617"/>
            <a:ext cx="4000500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upload and global distribution tools for creators.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14875" y="1810941"/>
            <a:ext cx="4000500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 ENGAGEMENT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14875" y="2080617"/>
            <a:ext cx="4000500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features to increase community participation.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8625" y="2703547"/>
            <a:ext cx="4000500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CONTENT DISCOVERY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8625" y="2973223"/>
            <a:ext cx="4000500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search and categories for effortless browsing.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14875" y="2703547"/>
            <a:ext cx="4000500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INSIGHT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14875" y="2973223"/>
            <a:ext cx="4000500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Learnings on high-performance media architecture and design.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Core Features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366242"/>
            <a:ext cx="3929063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ACCOUNTS &amp; CHANNELS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1671638"/>
            <a:ext cx="392906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Identity Management:</a:t>
            </a: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Secure registration, login, and profile </a:t>
            </a: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customization. Every user receives a dedicated channel for content.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86313" y="1366242"/>
            <a:ext cx="3929063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VIDEO MANAGEMENT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86313" y="1671638"/>
            <a:ext cx="392906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Lifecycle Tracking:</a:t>
            </a: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Metadata handling (titles, tags) and real-time </a:t>
            </a: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 updates for processing, ready, or failed states.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8625" y="2643188"/>
            <a:ext cx="3929063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2948583"/>
            <a:ext cx="392906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Social Interaction:</a:t>
            </a: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Subscriptions for channel updates, like/dislike </a:t>
            </a: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feedback, and threaded commenting systems.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86313" y="2643188"/>
            <a:ext cx="3929063" cy="1982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86313" y="2948583"/>
            <a:ext cx="392906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Content Access:</a:t>
            </a: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Keyword-based search engine and categorical </a:t>
            </a: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 for efficient media browsing.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 Stack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209080"/>
            <a:ext cx="8286750" cy="74080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428625" y="1942737"/>
            <a:ext cx="8286750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428625" y="1351955"/>
            <a:ext cx="1785938" cy="4479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14563" y="1351955"/>
            <a:ext cx="6500813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Python &amp; FastAPI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14563" y="1619845"/>
            <a:ext cx="650081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High-performance asynchronous framework for efficient API and metadata handling.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8625" y="1942737"/>
            <a:ext cx="8286750" cy="74080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28625" y="2676395"/>
            <a:ext cx="8286750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1" name="Text 8"/>
          <p:cNvSpPr/>
          <p:nvPr/>
        </p:nvSpPr>
        <p:spPr>
          <a:xfrm>
            <a:off x="428625" y="2085612"/>
            <a:ext cx="1785938" cy="4479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214563" y="2085612"/>
            <a:ext cx="6500813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214563" y="2353503"/>
            <a:ext cx="650081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relational database for managing complex entity relationships and data integrity.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8625" y="2676395"/>
            <a:ext cx="8286750" cy="74080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428625" y="3410052"/>
            <a:ext cx="8286750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Text 13"/>
          <p:cNvSpPr/>
          <p:nvPr/>
        </p:nvSpPr>
        <p:spPr>
          <a:xfrm>
            <a:off x="428625" y="2819270"/>
            <a:ext cx="1785938" cy="4479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STORAGE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14563" y="2819270"/>
            <a:ext cx="6500813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AWS S3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14563" y="3087160"/>
            <a:ext cx="650081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object storage solution for high-volume video and thumbnail data.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8625" y="3410052"/>
            <a:ext cx="8286750" cy="74080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428625" y="4143710"/>
            <a:ext cx="8286750" cy="7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1" name="Text 18"/>
          <p:cNvSpPr/>
          <p:nvPr/>
        </p:nvSpPr>
        <p:spPr>
          <a:xfrm>
            <a:off x="428625" y="3552927"/>
            <a:ext cx="1785938" cy="4479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214563" y="3552927"/>
            <a:ext cx="6500813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React &amp; Tailwind CSS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214563" y="3820818"/>
            <a:ext cx="650081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component-based architecture for building a responsive and dynamic user interface.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 Schema Overview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137642"/>
            <a:ext cx="8286750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PostgreSQL design prioritizing data integrity, scalability, and efficient querying for core platform functionalities.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28625" y="1903419"/>
            <a:ext cx="8286750" cy="700422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428625" y="1903419"/>
            <a:ext cx="8286750" cy="1428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Text 4"/>
          <p:cNvSpPr/>
          <p:nvPr/>
        </p:nvSpPr>
        <p:spPr>
          <a:xfrm>
            <a:off x="428625" y="2046294"/>
            <a:ext cx="8286750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RELATIONAL INTEGRITY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8625" y="2383836"/>
            <a:ext cx="8286750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enforcement of Primary and Foreign Key constraints to ensure consistent data across all tables.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8625" y="2875304"/>
            <a:ext cx="8286750" cy="700422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28625" y="2875304"/>
            <a:ext cx="8286750" cy="1428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1" name="Text 8"/>
          <p:cNvSpPr/>
          <p:nvPr/>
        </p:nvSpPr>
        <p:spPr>
          <a:xfrm>
            <a:off x="428625" y="3018179"/>
            <a:ext cx="8286750" cy="2303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SCALABLE ARCHITECTURE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8625" y="3355721"/>
            <a:ext cx="8286750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Optimized schema design to handle complex relationships between users, videos, and social interactions.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8625" y="3990063"/>
            <a:ext cx="8286750" cy="1321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66666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CORE ENTITIES: USERS | VIDEOS | COMMENTS | REACTIONS | SUBSCRIPTIONS | CATEGORIES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182880"/>
            <a:ext cx="8572500" cy="2946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Entity-Relationship Diagram</a:t>
            </a:r>
            <a:endParaRPr lang="en-US" sz="1800" dirty="0"/>
          </a:p>
        </p:txBody>
      </p:sp>
      <p:pic>
        <p:nvPicPr>
          <p:cNvPr id="2" name="Picture 1" descr="Screenshot 2026-04-29 1336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85" y="1118870"/>
            <a:ext cx="9144000" cy="40246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85750" y="519430"/>
            <a:ext cx="7242810" cy="419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200" dirty="0">
                <a:solidFill>
                  <a:srgbClr val="334155"/>
                </a:solidFill>
                <a:latin typeface="Times New Roman" panose="02020603050405020304" charset="0"/>
                <a:ea typeface="Merriweather Light" pitchFamily="34" charset="-122"/>
                <a:cs typeface="Times New Roman" panose="02020603050405020304" charset="0"/>
                <a:sym typeface="+mn-ea"/>
              </a:rPr>
              <a:t>The following diagram illustrates the relational structure of the YouTube prototype database, highlighting primary keys (PK), foreign keys (FK), and the cardinality of relationships between entities.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Relationship Summary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251942"/>
            <a:ext cx="4036219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USERS TO VIDEOS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28625" y="1469827"/>
            <a:ext cx="69051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One-to-Many: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19141" y="1469827"/>
            <a:ext cx="1892312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user can upload multiple videos. The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011453" y="1451967"/>
            <a:ext cx="45005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user_id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461510" y="1469827"/>
            <a:ext cx="792007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VIDEOS links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28625" y="1619845"/>
            <a:ext cx="1245077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video to its uploader.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79156" y="1251942"/>
            <a:ext cx="4036219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USERS TO COMMENTS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79156" y="1469827"/>
            <a:ext cx="69051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One-to-Many: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369672" y="1469827"/>
            <a:ext cx="1957555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user can post multiple comments. The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327227" y="1451967"/>
            <a:ext cx="45005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user_id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777283" y="1469827"/>
            <a:ext cx="768009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COMMENTS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79156" y="1619845"/>
            <a:ext cx="959132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the author.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28625" y="2155627"/>
            <a:ext cx="4036219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USERS TO REACTIONS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8625" y="2373511"/>
            <a:ext cx="69051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One-to-Many: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19141" y="2373511"/>
            <a:ext cx="1459083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give multiple reactions;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578224" y="2355652"/>
            <a:ext cx="45005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user_id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028280" y="2373511"/>
            <a:ext cx="1304153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REACTIONS associates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28625" y="2523530"/>
            <a:ext cx="1096063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with the user.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79156" y="2155627"/>
            <a:ext cx="4036219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USERS TO SUBSCRIPTIONS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679156" y="2373511"/>
            <a:ext cx="69051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One-to-Many: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369672" y="2373511"/>
            <a:ext cx="1727169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subscribe to many channels;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096841" y="2355652"/>
            <a:ext cx="83581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subscriber_id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932660" y="2373511"/>
            <a:ext cx="208564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679156" y="2511028"/>
            <a:ext cx="642938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channel_id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322094" y="2528888"/>
            <a:ext cx="982824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these links.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28625" y="3064669"/>
            <a:ext cx="4036219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VIDEOS TO CATEGORIES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28625" y="3282553"/>
            <a:ext cx="69051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One-to-Many: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119141" y="3282553"/>
            <a:ext cx="2011273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Videos map to multiple categories via the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130414" y="3264694"/>
            <a:ext cx="10287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VIDEO_CATEGORIES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28625" y="3432572"/>
            <a:ext cx="661271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junction table.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79156" y="3064669"/>
            <a:ext cx="4036219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VIDEOS TO COMMENTS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679156" y="3282553"/>
            <a:ext cx="69051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One-to-Many: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369672" y="3282553"/>
            <a:ext cx="1715393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video can have many comments;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085065" y="3264694"/>
            <a:ext cx="51435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video_id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599415" y="3282553"/>
            <a:ext cx="1012124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COMMENTS links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679156" y="3432572"/>
            <a:ext cx="851808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them to the video.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28625" y="3968353"/>
            <a:ext cx="4036219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VIDEOS TO REACTIONS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28625" y="4186238"/>
            <a:ext cx="69051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One-to-Many: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1119141" y="4186238"/>
            <a:ext cx="1546622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Videos receive many reactions;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665763" y="4168378"/>
            <a:ext cx="51435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video_id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180113" y="4186238"/>
            <a:ext cx="1226772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REACTIONS connects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28625" y="4336256"/>
            <a:ext cx="1048513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to the video.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679156" y="3968353"/>
            <a:ext cx="4036219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COMMENTS TO COMMENTS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679156" y="4186238"/>
            <a:ext cx="887192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Self-Referencing: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5566349" y="4186238"/>
            <a:ext cx="1417476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Comments can have replies;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983825" y="4168378"/>
            <a:ext cx="1092994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parent_comment_id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076819" y="4186238"/>
            <a:ext cx="536060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679156" y="4341614"/>
            <a:ext cx="393213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another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072369" y="4323755"/>
            <a:ext cx="642938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comment_id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715307" y="4341614"/>
            <a:ext cx="29775" cy="11965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946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137642"/>
            <a:ext cx="8286750" cy="5600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0000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YouTube prototype documentation establishes a scalable and robust technical foundation for modern video-sharing applications.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8625" y="2283489"/>
            <a:ext cx="1910953" cy="180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28625" y="2571024"/>
            <a:ext cx="191095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architecture is designed to handle growing volumes of media data and user interactions seamlessly.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553891" y="2283489"/>
            <a:ext cx="1910953" cy="180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53891" y="2571024"/>
            <a:ext cx="1910953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structured relational database approach ensures consistent data across all platform entities.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679156" y="2283489"/>
            <a:ext cx="1910953" cy="180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FUTURE POTENTIAL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79156" y="2571024"/>
            <a:ext cx="1910953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modular design allows for the integration of advanced features like AI-driven content recommendations.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04422" y="2283489"/>
            <a:ext cx="1910953" cy="1803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READINESS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04422" y="2571024"/>
            <a:ext cx="1910953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documentation serves as a clear and actionable roadmap for the development of a functional prototype.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5917</Words>
  <Application>WPS Presentation</Application>
  <PresentationFormat>On-screen Show (16:9)</PresentationFormat>
  <Paragraphs>313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9" baseType="lpstr">
      <vt:lpstr>Arial</vt:lpstr>
      <vt:lpstr>SimSun</vt:lpstr>
      <vt:lpstr>Wingdings</vt:lpstr>
      <vt:lpstr>Playfair Display Bold</vt:lpstr>
      <vt:lpstr>Segoe Print</vt:lpstr>
      <vt:lpstr>Playfair Display Bold</vt:lpstr>
      <vt:lpstr>Playfair Display Bold</vt:lpstr>
      <vt:lpstr>Playfair Display</vt:lpstr>
      <vt:lpstr>Playfair Display</vt:lpstr>
      <vt:lpstr>Playfair Display</vt:lpstr>
      <vt:lpstr>Roboto Bold</vt:lpstr>
      <vt:lpstr>Roboto Bold</vt:lpstr>
      <vt:lpstr>Roboto Bold</vt:lpstr>
      <vt:lpstr>Roboto</vt:lpstr>
      <vt:lpstr>Roboto</vt:lpstr>
      <vt:lpstr>Roboto</vt:lpstr>
      <vt:lpstr>monospace</vt:lpstr>
      <vt:lpstr>monospace</vt:lpstr>
      <vt:lpstr>monospace</vt:lpstr>
      <vt:lpstr>Calibri</vt:lpstr>
      <vt:lpstr>Microsoft YaHei</vt:lpstr>
      <vt:lpstr>Arial Unicode MS</vt:lpstr>
      <vt:lpstr>Times New Roman</vt:lpstr>
      <vt:lpstr>MingLiU-ExtB</vt:lpstr>
      <vt:lpstr>Merriweather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Alex</cp:lastModifiedBy>
  <cp:revision>4</cp:revision>
  <dcterms:created xsi:type="dcterms:W3CDTF">2026-04-29T10:18:00Z</dcterms:created>
  <dcterms:modified xsi:type="dcterms:W3CDTF">2026-04-29T13:43:29Z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59E8E3BB114E4DF893F4CC599144A1E2_13</vt:lpwstr>
  </property>
</Properties>
</file>